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73152" cy="50520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2926080" cy="34747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  ·  THEORY PRESENTATION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Engine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</a:rPr>
              <a:t>A Complete Theoretical Walkthrough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Combining Unsupervised Clustering · Regression · Classification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 an End-to-End Scikit-Learn Pipeline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457200"/>
            <a:ext cx="2423160" cy="4434840"/>
          </a:xfrm>
          <a:prstGeom prst="rect">
            <a:avLst/>
          </a:prstGeom>
          <a:solidFill>
            <a:srgbClr val="1E3A5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548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</a:rPr>
              <a:t>PRESENTERS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960120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96012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31152" y="9601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Problem Statement &amp; Overview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583680" y="1472184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72184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31152" y="14721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Data Engineering &amp; Preprocessing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0" y="1984248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9842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31152" y="19842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Unsupervised Learning – KMeans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83680" y="2496312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4963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31152" y="24963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Supervised Learning – Linear Regression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83680" y="3008376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008376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31152" y="30083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Classification – Random Forest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83680" y="3520440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1B2E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5204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45"/>
                </a:solidFill>
              </a:rPr>
              <a:t>M6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31152" y="35204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System Integration &amp; Pipeline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83680" y="4032504"/>
            <a:ext cx="2240280" cy="438912"/>
          </a:xfrm>
          <a:prstGeom prst="rect">
            <a:avLst/>
          </a:prstGeom>
          <a:solidFill>
            <a:srgbClr val="0D1B2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032504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M7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31152" y="40325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Results, Evaluation &amp; Conclusions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Python  ·  scikit-learn  ·  pandas  ·  numpy  ·  KMeans  ·  LinearRegression  ·  RandomForestClassifier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Problem Statement &amp;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1  ·  ~5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574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221992"/>
            <a:ext cx="384048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130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 Engineering &amp; 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328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2  ·  ~5 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731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82112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Unsupervised Learning – KMeans Clustering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493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3  ·  ~5 min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77640"/>
            <a:ext cx="73152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4142232"/>
            <a:ext cx="384048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0507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Supervised Learning – Linear Regression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453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4  ·  ~5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09728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09728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1261872"/>
            <a:ext cx="38404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170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Classification – Random Forest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1572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5  ·  ~5 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05740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057400"/>
            <a:ext cx="73152" cy="82296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2221992"/>
            <a:ext cx="384048" cy="384048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1305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System Integration &amp; Pipeline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253288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6  ·  ~5 min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017520"/>
            <a:ext cx="42976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01752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4937760" y="3182112"/>
            <a:ext cx="384048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30906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Results, Evaluation &amp; Conclusions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34930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Member 7  ·  ~5 min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Overview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Why this system? What problem does it solve?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M1  ·  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Problem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Property Valuation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Real estate prices depend on dozens of interacting factors — structural features AND neighborhood socioeconomics. Traditional manual appraisals miss complex non-linear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Problem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Credit Default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Lenders must assess whether a borrower will default on a mortgage. This is influenced by credit score, income ratio, and even the property's true market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8892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7889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Problem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Siloed Decision-Making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Banks historically valuate properties and score credit risk separately. This creates inconsistency and systemic blind spots in loan underwriting.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13308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 Solution: Build an integrated ML pipeline that (1) segments neighborhoods, (2) predicts property value, and (3) classifies credit default risk — in one unified system.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M1  ·  System Objectives &amp;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Segment neighborhoods into quality clusters using KMeans unsupervised learning on socioeconomic indicators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64008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2880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85623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Predict the fair market value of a property using Linear Regression on both physical and cluster features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64008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0604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63347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Classify applicant credit risk (default / no-default) using Random Forest classification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841248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8328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41071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Integrate all three models into a single sklearn Pipeline with a clean CLI user interface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60520"/>
            <a:ext cx="64008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60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18795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Simulate realistic synthetic data (n=1000) with controlled distributions to train and validate models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Preprocessing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Synthetic generation, distributions, cleaning, and outlier removal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M2  ·  Why Synthetic Data?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🔒  Privacy Safe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Real mortgage and property data contains PII. Synthetic data allows full experimentation without legal or ethical risk.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2062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🎛️  Controlled Distributions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We precisely specify statistical properties (mean, std, range) for every feature — ensuring realistic but reproducible results.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2062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⚖️  Reproducible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numpy random seed = 42 guarantees every team member gets identical data across all runs, enabling consistent model evaluation.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20624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📊  Scalable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n_samples = 1000 can be changed to 10,000 or 100,000 with one variable — great for testing scalability.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M2  ·  Feature Distributions &amp; Statistical Design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862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4297680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sq_foot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Normal(μ=2100, σ=450)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sizes cluster around a mean; rare very large or small homes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Integer [1, 60]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 from newly built to 60 years old, equally likely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Integer [2, 6]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homes have 2–6 bedrooms; discrete count 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Integer [1, 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rationale to bedrooms; integer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Uniform(0.1, 4.5)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 rate index — continuous, varies widely by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Normal(μ=70000, σ=18000)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 income follows approx. normal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Uniform(2.0, 10.0)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quality scores on a 2–10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Uniform(15, 85)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accessibility index, continuous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Integer [580, 850]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580=poor, 850=perfect; subprime borrowers excluded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debt_to_income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Uniform(0.15, 0.55)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DTI ratio; &gt;0.43 is high risk per lending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down_payment_pct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Uniform(0.05, 0.30)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5%–30% down; affects LTV ratio and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M2  ·  Target Variable Design &amp; Data Cleaning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Property Price Formula (Target Variable)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 =  (sq_foot × 165)  −  (property_age × 780)  +  (avg_income × 1.4)  +  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ε ~ N(0, 12000)  (Gaussian noise term)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20624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74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sq_foot × 165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34747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Each additional sq ft adds $165 to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3429000"/>
            <a:ext cx="420624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474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property_age × 780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34747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Each additional year of age reduces value by $780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087368"/>
            <a:ext cx="420624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330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avg_income × 1.4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41330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Higher-income neighborhoods drive up prices (1.4× multiplier)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4087368"/>
            <a:ext cx="420624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1330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~ N(0, 12000)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41330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Stochastic noise simulates real-world valuation uncertainty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Outlier Removal: IQR Method  →  Remove price &lt; (Q1 − 1.5×IQR)  or  price &gt; (Q3 + 1.5×IQR)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– KMeans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Neighborhood segmentation theory and NeighborhoodClusterer design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M3  ·  KMeans Clustering — Theory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Algorithm: Lloyd's KMeans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44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Initialize k=3 centroids randomly (n_init=10 restarts to avoid local minima)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Assign each data point to the nearest centroid (Euclidean distance)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Recompute each centroid as the mean of all points assigned to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19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4198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Repeat assignment and update until centroids converge (no change)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782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Select the best run (lowest inertia = sum of squared distances to centroids)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1005840"/>
            <a:ext cx="3291840" cy="3931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1078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Key Concepts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Inertia: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0" y="170992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Sum of squared distances from each point to its assigned centroid. Lower = tighter clusters.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n_init=10: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23500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KMeans runs 10 times with different seeds; best result (lowest inertia) is kept.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2788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random_state=42: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2990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Ensures deterministic, reproducible centroid initialization across runs.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429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Euclidean Distance: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3630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 = √(Σ(xi−ci)²). The distance metric used to assign points to centroids.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4069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Convergence: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42702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Algorithm stops when centroid positions no longer change between iterations.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M3  ·  NeighborhoodClusterer — Custom Transformer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51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0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Why inherit from BaseEstimator + TransformerMixin?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BaseEstimator → Provides get_params() / set_params() for hyperparameter management and GridSearchCV compatibility.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TransformerMixin → Provides fit_transform() by combining fit() and transform() — enables use inside sklearn Pipeline steps.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fit(X, y=None)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1.  Extract demographic columns: [crime_rate, avg_income, school_rating, transit_score]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2.  Fit StandardScaler on the 4 demographic features → stores μ and σ for each feature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3.  Scale the features to zero mean, unit variance: X' = (X − μ) / σ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3099816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4.  Fit KMeans(n_clusters=3) on scaled data → learns 3 cluster centroids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5.  Returns self (sklearn convention) — scaler and kmeans stored as instance attributes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transform(X)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1.  Copy input DataFrame to avoid mutating original data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4169664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2.  Extract same demographic columns from the copy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3.  Apply already-fitted scaler.transform() — uses stored μ, σ (no re-fitting = no data leakage)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4517136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4.  Predict cluster label for each row using kmeans.predict()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57200" y="4690872"/>
            <a:ext cx="8321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</a:rPr>
              <a:t>5.  Add 'Neighborhood_Cluster' column; drop the 4 raw demographic columns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M3  ·  Why StandardScaler Before KMeans?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❌  Without Scaling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avg_income ranges from ~34,000 – ~106,000 (scale ≈ 72,000)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crime_rate ranges from 0.1 – 4.5 (scale ≈ 4.4)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KMeans distance is dominated by avg_income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School rating and crime rate have near-zero influence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Clusters reflect income brackets only — neighborhood structure is lost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✅  With StandardScaler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All features scaled to: mean = 0, std =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crime_rate, avg_income, school_rating, transit_score treated equally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Distance metric is fair across all dimensions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Clusters capture multi-dimensional neighborhood quality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 Scaler stored on instance: avoids re-fitting on test data (no leakage)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Formula: X_scaled = (X − μ) / σ  →  each feature has mean=0, variance=1  →  KMeans distances are meaningful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– Linear Regression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Regression theory, model training, and property valuation pipeline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M4  ·  Linear Regression —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9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Mathematical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 =  β₀  +  β₁x₁  +  β₂x₂  +  ...  +  βₙxₙ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42062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Predicted property price (dependent variable)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42062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06440" y="2148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Intercept — predicted price when all features =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β₁...βₙ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Coefficients — unit change in price per unit change in feature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260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x₁...xₙ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0644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Feature values: scaled physical features + one-hot cluster IDs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13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Training — Ordinary Least Squares (OLS)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sklearn's LinearRegression minimizes the Residual Sum of Squares (RSS):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325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 =  argmin Σ(yᵢ − ŷᵢ)²  =  (XᵀX)⁻¹ Xᵀy    (closed-form analytical solution)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M4  ·  Valuation Pipeline —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Stage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NeighborhoodClusterer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unsupervised_segmentation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KMeans(k=3) on 4 demo.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Neighborhood_Cluster ∈ {0,1,2}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005840"/>
            <a:ext cx="2834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05840"/>
            <a:ext cx="28346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Stage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55848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ColumnTransformer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105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encoding_and_scaling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OneHotEncode(Cluster ID)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StandardScale(physical features)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48" y="19202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005840"/>
            <a:ext cx="2834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005840"/>
            <a:ext cx="28346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1097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Stage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LinearRegression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5936" y="18105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linear_regressor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OLS on combined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predicted price $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971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Features Entering LinearRegression (after ColumnTransformer):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16002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560320"/>
                <a:gridCol w="1828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Neighborhood_Cluster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 → binary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columns (k=3)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sq_foot, property_age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(Z-score)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bedrooms, bathrooms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(Z-score)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– Random Forest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Decision trees, ensemble learning, and credit default prediction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M5  ·  Decision Trees — Building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Decision Node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feature split: e.g., 'Is credit_score &lt; 680?' Each node divides data into two branches based on a threshold.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Leaf Node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Terminal node containing the majority class (default=1 or no-default=0) for all samples reaching that node.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Gini Impurity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Gini = 1 − Σpᵢ² → Measures how 'mixed' a node is. 0 = perfectly pure (one class only). The tree splits to minimize Gini.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Information Gain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IG = Gini(parent) − [weighted avg Gini(children)]. Tree picks the split that maximizes information gain.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Max Depth = 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Limits tree depth to 6 levels. Prevents overfitting by stopping the tree from memorizing training noise.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2070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73152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Pruning Effect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max_depth=6 acts as pre-pruning. Deeper trees overfit; shallower trees generalize better to unseen data.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M5  ·  Random Forest — Ensemble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Ensemble Principle: Train 100 independent decision trees; combine by majority vote (classification) or average (regression).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Bagging (Bootstrap Aggregation)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Each tree is trained on a random bootstrap sample (with replacement) of the training data. ~63% unique samples per tree. Reduces variance.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Feature Randomness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At each split, only a random subset of √p features are considered. This decorrelates trees — no single feature dominates every tree.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Majority Vote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Final prediction = class voted by most trees. For probabilities, predict_proba() returns the fraction of trees voting for each class.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Why 100 Trees?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n_estimators=100 provides stable estimates. More trees → lower variance but slower. 100 is standard for most tabular datasets.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995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Bias-Variance Tradeoff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Individual trees = low bias, high variance. Averaging 100 trees = low bias, dramatically lower variance. Best of both worlds.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93192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995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Out-of-Bag Error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Since ~37% of samples aren't used per tree, they serve as built-in validation. sklearn's OOB score can estimate generalization error.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M5  ·  Credit Default Risk Model —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Features (3 variables):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9377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00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Range: 580–850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Primary indicator of borrower reliability and payment history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9377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48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down_payment_pct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3865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Range: 0.05–0.30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Higher down payment = lower LTV = lower default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9377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predicted_house_price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0723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Range: Dynamic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From valuation pipeline — links property value to affordability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005840"/>
            <a:ext cx="3337560" cy="2057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10789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Synthetic Label Formula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137160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(DTI × 7.5)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− (credit_score / 155)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− (down_pmt × 3.5)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p_default = sigmoid(risk)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p &gt; Uniform(0,1)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3154680"/>
            <a:ext cx="3337560" cy="1005840"/>
          </a:xfrm>
          <a:prstGeom prst="rect">
            <a:avLst/>
          </a:prstGeom>
          <a:solidFill>
            <a:srgbClr val="FDE68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218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Decision Threshold = 0.25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5387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predict_proba()[:, 1] ≥ 0.25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DENIED  |  &lt; 0.25 → APPROVED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Classification Pipeline: StandardScaler → RandomForestClassifier(n_estimators=100, max_depth=6)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StandardScaler normalizes features before RF — improves convergence even for tree-based methods.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Pipeline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How all components connect into one deployable inference system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M6  ·  sklearn Pipeline — Theory &amp; Benefits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sklearn Pipeline chains transformers and an estimator. Calling pipeline.fit(X, y) automatically calls fit_transform() on each transformer, then fit() on the final estimator. pipeline.predict(X) chains transform() → predict().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47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No Data Leakage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Transformers are fit on training data only; test data is transformed using stored parameters. Pipeline enforces this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47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Single Predict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One call to pipeline.predict(X_new) handles all preprocessing and inference for unseen data — no manual preprocessing needed.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98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GridSearchCV 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The entire pipeline can be passed to GridSearchCV. Hyperparameters referenced as 'step__param' (e.g., 'linear_regressor__fit_intercept').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98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Reproducibility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All fitted parameters (scaler μ/σ, KMeans centroids, regression weights) are stored in one pipeline object — serializable with joblib.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Error Prevention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Without Pipeline, a developer might accidentally call scaler.fit_transform() on test data. Pipeline makes this mistake structurally impossible.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206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8862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Deployment Ready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The fitted pipeline object is the entire model artifact. Deploy it to production, and it handles raw input → prediction in one step.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M6  ·  End-to-End Prediction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16152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1247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User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property_features dict + applicant_credit_profiles dict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 property + 2 credit inputs from CLI)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051560"/>
            <a:ext cx="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737360"/>
            <a:ext cx="0" cy="109728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56232"/>
            <a:ext cx="85953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20824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20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Valuation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90195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valuation_pipeline.predict(input_property_df)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suggested_valuation ($)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1856232"/>
            <a:ext cx="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2542032"/>
            <a:ext cx="0" cy="109728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60904"/>
            <a:ext cx="85953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2549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25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7340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Feature Assembly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706624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credit_input_matrix: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{credit_score, down_payment_pct, predicted_house_price}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2660904"/>
            <a:ext cx="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" y="3346704"/>
            <a:ext cx="0" cy="1097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65576"/>
            <a:ext cx="85953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30168"/>
            <a:ext cx="347472" cy="34747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30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5387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Risk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3511296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classification_pipeline.predict_proba()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raw_default_prob (0.0 – 1.0)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8960" y="3465576"/>
            <a:ext cx="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" y="4151376"/>
            <a:ext cx="0" cy="10972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270248"/>
            <a:ext cx="85953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4348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Decision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0" y="431596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≥ 0.25 → DENIED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&lt; 0.25 → APPROVED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08960" y="4270248"/>
            <a:ext cx="0" cy="68580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5074920"/>
            <a:ext cx="8595360" cy="64008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10312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Member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Evaluation &amp; Conclusions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Model performance, theoretical validation, and key learnings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0" cy="20116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Estate &amp; Credit Risk Engine  —  Full Theory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M7  ·  Model Evaluation Metrics — Theory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Regression Metrics (Valuation Model)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(1/n) Σ|yᵢ − ŷᵢ|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Average absolute error in $ — easy to interpret, robust to outliers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RMSE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√[(1/n) Σ(yᵢ − ŷᵢ)²]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Penalizes large errors more — good for catching extreme mispricings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43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SSres/SStot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743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Fraction of variance explained. R²=1 perfect, R²=0 = naive mean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Classification Metrics (Credit Risk Model)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859536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22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822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(TP+TN)/(TP+TN+FP+FN)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3822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Overall correct predictions — misleading for imbalanced classes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42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4142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34840" y="41422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Of predicted defaults, how many actually defaulted?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622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Recall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4622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4462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Of actual defaults, how many did we catch? (critical for lenders)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782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AUC-ROC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00200" y="47823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under ROC curve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47823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Discrimination ability across all thresholds — 0.5=random, 1.0=perfect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M7  ·  Key Learnings &amp; Theoretical Contributions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</a:rPr>
              <a:t>UNSUPERVISED 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KMeans as Feature Engineering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Using clustering as a preprocessing step is a powerful technique. Neighborhood cluster IDs serve as latent quality features that improve regression accuracy more than the raw demographic values would.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2062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15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891B2"/>
                </a:solidFill>
              </a:rPr>
              <a:t>FEATURE ENGINEERING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Bridging Two Pipelines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predicted_house_price from the regression pipeline becomes an input to the classification pipeline. This cross-pipeline feature linkage is a real-world pattern in production ML systems.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2062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358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</a:rPr>
              <a:t>SKLEARN DESIGN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Custom Transformers Enable Modularity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Implementing BaseEstimator + TransformerMixin allows our clustering step to be swapped, tuned, or replaced without changing any other code. This is the open/closed principle applied to ML.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2062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358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C2626"/>
                </a:solidFill>
              </a:rPr>
              <a:t>RISK MANAGEMENT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Conservative Thresholding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3657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Setting the default threshold at 0.25 (rather than standard 0.50) reflects asymmetric costs: a missed default is far more costly to a lender than a rejected good applicant.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📈  Real Data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270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Replace synthetic data with actual MLS property listings and HMDA mortgage data for production accuracy.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🔍  Hyperparameter Tuning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5270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 GridSearchCV or RandomizedSearchCV on pipeline params: n_clusters, n_estimators, max_depth, threshold.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🧠  Advanced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5270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Replace LinearRegression with GradientBoostingRegressor or XGBoost for non-linear valuation. Try LightGBM for credit risk.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077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📊  Model Explainability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558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Add SHAP values to explain each prediction — critical for regulatory compliance in lending (ECOA, FCRA).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9077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🔁  Cross-Validation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3558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Implement k-Fold CV (currently absent) to get unbiased error estimates and confidence intervals on all metrics.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83464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9077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🚀  Production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3558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Serialize pipeline with joblib, expose via FastAPI endpoint, containerize with Docker for real-time underwriting.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Thank You  —  Questions &amp; Discussion  —  Real Estate &amp; Credit Risk ML 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&amp; Credit Risk Engine - Full Theory</dc:title>
  <dc:subject>PptxGenJS Presentation</dc:subject>
  <dc:creator>PptxGenJS</dc:creator>
  <cp:lastModifiedBy>PptxGenJS</cp:lastModifiedBy>
  <cp:revision>1</cp:revision>
  <dcterms:created xsi:type="dcterms:W3CDTF">2026-06-06T09:41:01Z</dcterms:created>
  <dcterms:modified xsi:type="dcterms:W3CDTF">2026-06-06T09:41:01Z</dcterms:modified>
</cp:coreProperties>
</file>